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13"/>
    <p:sldId id="271" r:id="rId14"/>
    <p:sldId id="267" r:id="rId15"/>
    <p:sldId id="268" r:id="rId16"/>
    <p:sldId id="269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6B751F-8308-4131-BD37-8B9E412BA494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602C6B-E0AA-4941-84FE-F244ECAFEF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3304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602C6B-E0AA-4941-84FE-F244ECAFEFFC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12820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602C6B-E0AA-4941-84FE-F244ECAFEFFC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18371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9/20/2026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9/20/2026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9/20/2026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9/20/2026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9/20/2026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1B5C09F-B81F-4E12-143D-9D1A71FD83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81832" y="3706761"/>
            <a:ext cx="6567949" cy="1848465"/>
          </a:xfrm>
        </p:spPr>
        <p:txBody>
          <a:bodyPr>
            <a:normAutofit/>
          </a:bodyPr>
          <a:lstStyle/>
          <a:p>
            <a:pPr algn="l"/>
            <a:r>
              <a:rPr lang="en-IN" sz="2000" b="1" dirty="0"/>
              <a:t>Submitted by:</a:t>
            </a:r>
            <a:br>
              <a:rPr lang="en-IN" sz="2000" dirty="0"/>
            </a:br>
            <a:r>
              <a:rPr lang="en-IN" sz="2000" dirty="0"/>
              <a:t>PRIYANKA BALAKUMAR</a:t>
            </a:r>
            <a:br>
              <a:rPr lang="en-IN" sz="2000" dirty="0"/>
            </a:br>
            <a:r>
              <a:rPr lang="en-IN" sz="2000" dirty="0"/>
              <a:t>CMR INSTITUTE OF TECHNOLOGY</a:t>
            </a:r>
          </a:p>
          <a:p>
            <a:pPr algn="l"/>
            <a:r>
              <a:rPr lang="en-IN" sz="2000" dirty="0"/>
              <a:t>Internship ID:INTERNSHIP_17828984086a44dee80acf6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0254F8-5157-5B32-30F4-6EFDA1AF4D31}"/>
              </a:ext>
            </a:extLst>
          </p:cNvPr>
          <p:cNvSpPr txBox="1"/>
          <p:nvPr/>
        </p:nvSpPr>
        <p:spPr>
          <a:xfrm>
            <a:off x="1236684" y="1216863"/>
            <a:ext cx="6629122" cy="19343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4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CircuitWise</a:t>
            </a:r>
            <a:r>
              <a:rPr lang="en-IN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AI</a:t>
            </a:r>
            <a:br>
              <a:rPr lang="en-IN" sz="3200" b="1" dirty="0"/>
            </a:b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AI-assisted Energy-efficient Design For </a:t>
            </a:r>
            <a:r>
              <a:rPr lang="en-IN" sz="2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Iot</a:t>
            </a: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Devices</a:t>
            </a:r>
            <a:br>
              <a:rPr lang="en-IN" sz="3200" dirty="0"/>
            </a:br>
            <a:r>
              <a:rPr lang="en-IN" b="1" dirty="0"/>
              <a:t>Primary SDG:</a:t>
            </a:r>
            <a:r>
              <a:rPr lang="en-IN" dirty="0"/>
              <a:t> SDG 12 – Responsible Consumption &amp; Production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5BDB198-F7ED-9784-7D5D-0494D8DBEF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3455" y="839429"/>
            <a:ext cx="2454377" cy="2454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652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99D84-1DDA-43EC-1190-458DBA276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641555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4A4E50-A435-20CE-ED00-FDC865FB5F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27355"/>
            <a:ext cx="5894439" cy="4540045"/>
          </a:xfrm>
        </p:spPr>
        <p:txBody>
          <a:bodyPr/>
          <a:lstStyle/>
          <a:p>
            <a:pPr lvl="0"/>
            <a:r>
              <a:rPr lang="en-IN" dirty="0"/>
              <a:t>IoT devices often operate using </a:t>
            </a:r>
            <a:r>
              <a:rPr lang="en-IN" b="1" dirty="0"/>
              <a:t>limited battery power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Different components consume different amounts of energy. </a:t>
            </a:r>
          </a:p>
          <a:p>
            <a:pPr lvl="0"/>
            <a:r>
              <a:rPr lang="en-IN" dirty="0"/>
              <a:t>Power consumption changes with </a:t>
            </a:r>
            <a:r>
              <a:rPr lang="en-IN" b="1" dirty="0"/>
              <a:t>operating modes and usage time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Manual calculations and component comparison can be time-consuming. </a:t>
            </a:r>
          </a:p>
          <a:p>
            <a:pPr lvl="0"/>
            <a:r>
              <a:rPr lang="en-IN" dirty="0"/>
              <a:t>Engineers need to identify </a:t>
            </a:r>
            <a:r>
              <a:rPr lang="en-IN" b="1" dirty="0"/>
              <a:t>power-hungry components</a:t>
            </a:r>
            <a:r>
              <a:rPr lang="en-IN" dirty="0"/>
              <a:t> before building the device. </a:t>
            </a:r>
          </a:p>
          <a:p>
            <a:pPr lvl="0"/>
            <a:r>
              <a:rPr lang="en-IN" dirty="0"/>
              <a:t>There is a need for a tool that combines </a:t>
            </a:r>
            <a:r>
              <a:rPr lang="en-IN" b="1" dirty="0"/>
              <a:t>electronics calculations with AI-based analysis</a:t>
            </a:r>
            <a:r>
              <a:rPr lang="en-IN" dirty="0"/>
              <a:t>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 descr="AI generated image">
            <a:extLst>
              <a:ext uri="{FF2B5EF4-FFF2-40B4-BE49-F238E27FC236}">
                <a16:creationId xmlns:a16="http://schemas.microsoft.com/office/drawing/2014/main" id="{FCC5C22D-7FD5-CEAE-0C77-0BD59B5EA3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000" t="5830" r="29839" b="7382"/>
          <a:stretch>
            <a:fillRect/>
          </a:stretch>
        </p:blipFill>
        <p:spPr>
          <a:xfrm>
            <a:off x="7148051" y="471949"/>
            <a:ext cx="4896465" cy="5771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753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869AA-566B-55A4-69BF-901B78FB5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690716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&amp; SDG ALIGNMENT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2A6BC-1C48-6495-E967-3708F1493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229032"/>
            <a:ext cx="9601200" cy="4943168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 err="1"/>
              <a:t>CircuitWise</a:t>
            </a:r>
            <a:r>
              <a:rPr lang="en-IN" b="1" dirty="0"/>
              <a:t> AI</a:t>
            </a:r>
          </a:p>
          <a:p>
            <a:pPr marL="530352" lvl="1" indent="0">
              <a:buNone/>
            </a:pPr>
            <a:r>
              <a:rPr lang="en-IN" dirty="0"/>
              <a:t>An AI-assisted system for: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Power consumption analysis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Energy prediction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Anomaly detection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Power optimization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Engineering recommendations </a:t>
            </a:r>
          </a:p>
          <a:p>
            <a:pPr marL="530352" lvl="1" indent="0">
              <a:buNone/>
            </a:pPr>
            <a:endParaRPr lang="en-IN" dirty="0"/>
          </a:p>
          <a:p>
            <a:r>
              <a:rPr lang="en-IN" b="1" dirty="0"/>
              <a:t>SDG 12 — Responsible Consumption &amp; Production</a:t>
            </a:r>
          </a:p>
          <a:p>
            <a:pPr marL="530352" lvl="1" indent="0">
              <a:buNone/>
            </a:pPr>
            <a:r>
              <a:rPr lang="en-IN" dirty="0" err="1"/>
              <a:t>CircuitWise</a:t>
            </a:r>
            <a:r>
              <a:rPr lang="en-IN" dirty="0"/>
              <a:t> AI promotes: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Responsible energy consumption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Energy-efficient electronic design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Data-driven design decisions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Sustainable IoT development</a:t>
            </a:r>
          </a:p>
          <a:p>
            <a:endParaRPr lang="en-IN" dirty="0"/>
          </a:p>
        </p:txBody>
      </p:sp>
      <p:pic>
        <p:nvPicPr>
          <p:cNvPr id="4" name="Picture 3" descr="SDG 12 - Responsible consumption and production - Statistics Explained - Eurostat">
            <a:extLst>
              <a:ext uri="{FF2B5EF4-FFF2-40B4-BE49-F238E27FC236}">
                <a16:creationId xmlns:a16="http://schemas.microsoft.com/office/drawing/2014/main" id="{A57BC60D-5DDE-5207-7193-82176D02F4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3567" y="2523817"/>
            <a:ext cx="3810000" cy="386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930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A6F84-C522-59D9-2FE8-56635EBD6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651387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E9449-60A8-71E6-7923-C3715C9DF0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37187"/>
            <a:ext cx="9601200" cy="4530213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IN" dirty="0" err="1"/>
              <a:t>CircuitWise</a:t>
            </a:r>
            <a:r>
              <a:rPr lang="en-IN" dirty="0"/>
              <a:t> AI is an AI-assisted system for </a:t>
            </a:r>
            <a:r>
              <a:rPr lang="en-IN" b="1" dirty="0"/>
              <a:t>analysing and improving IoT power consumption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dirty="0"/>
              <a:t>It helps engineers to: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Calculate component and system power consumption.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Estimate energy usage for a given operating period.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Predict energy consumption using </a:t>
            </a:r>
            <a:r>
              <a:rPr lang="en-IN" b="1" dirty="0"/>
              <a:t>Machine Learning</a:t>
            </a:r>
            <a:r>
              <a:rPr lang="en-IN" dirty="0"/>
              <a:t>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Detect unusual power configurations.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Explore lower-energy design options.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Generate understandable engineering recommendations using </a:t>
            </a:r>
            <a:r>
              <a:rPr lang="en-IN" b="1" dirty="0"/>
              <a:t>IBM BOB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4167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BB38E-DA7B-F1B9-DE28-BD3525D12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006" y="593623"/>
            <a:ext cx="9601200" cy="612058"/>
          </a:xfrm>
        </p:spPr>
        <p:txBody>
          <a:bodyPr>
            <a:normAutofit fontScale="90000"/>
          </a:bodyPr>
          <a:lstStyle/>
          <a:p>
            <a:r>
              <a:rPr lang="en-IN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</a:t>
            </a:r>
            <a:r>
              <a:rPr lang="en-IN" sz="4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CircuitWise</a:t>
            </a:r>
            <a:r>
              <a:rPr lang="en-IN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AI Works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7B29D7E-EF24-F5F5-3E10-8830AF592E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125" t="2783" r="1688" b="12858"/>
          <a:stretch>
            <a:fillRect/>
          </a:stretch>
        </p:blipFill>
        <p:spPr>
          <a:xfrm>
            <a:off x="5938684" y="1501876"/>
            <a:ext cx="5958348" cy="44564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C85C90-63D9-0AB6-8BDB-C14CA8861A38}"/>
              </a:ext>
            </a:extLst>
          </p:cNvPr>
          <p:cNvSpPr txBox="1"/>
          <p:nvPr/>
        </p:nvSpPr>
        <p:spPr>
          <a:xfrm>
            <a:off x="1017639" y="1334728"/>
            <a:ext cx="451792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Input</a:t>
            </a:r>
          </a:p>
          <a:p>
            <a:pPr lvl="1"/>
            <a:r>
              <a:rPr lang="en-US" dirty="0"/>
              <a:t>Select components, voltage and operating conditions.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Calculate</a:t>
            </a:r>
          </a:p>
          <a:p>
            <a:pPr lvl="1"/>
            <a:r>
              <a:rPr lang="en-US" dirty="0"/>
              <a:t>Calculate power and energy using electrical parameters.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Predict</a:t>
            </a:r>
          </a:p>
          <a:p>
            <a:pPr lvl="1"/>
            <a:r>
              <a:rPr lang="en-US" dirty="0"/>
              <a:t>ML predicts expected energy consumption.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Detect</a:t>
            </a:r>
          </a:p>
          <a:p>
            <a:pPr lvl="1"/>
            <a:r>
              <a:rPr lang="en-US" dirty="0"/>
              <a:t>Identify configurations that are statistically unusual.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Optimize</a:t>
            </a:r>
          </a:p>
          <a:p>
            <a:pPr lvl="1"/>
            <a:r>
              <a:rPr lang="en-US" dirty="0"/>
              <a:t>Search for lower-energy operating scenarios while respecting constraints.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Explain</a:t>
            </a:r>
          </a:p>
          <a:p>
            <a:pPr lvl="1"/>
            <a:r>
              <a:rPr lang="en-US" dirty="0"/>
              <a:t>IBM BOB helps interpret the results and generate engineering insights.</a:t>
            </a:r>
          </a:p>
        </p:txBody>
      </p:sp>
    </p:spTree>
    <p:extLst>
      <p:ext uri="{BB962C8B-B14F-4D97-AF65-F5344CB8AC3E}">
        <p14:creationId xmlns:p14="http://schemas.microsoft.com/office/powerpoint/2010/main" val="2717889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6BF7D-462B-E714-8228-6499313EA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382" y="272845"/>
            <a:ext cx="9601200" cy="720213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C8677-0327-E45E-5FF7-A9AFF38D6A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781" y="2074606"/>
            <a:ext cx="3701845" cy="2231923"/>
          </a:xfrm>
        </p:spPr>
        <p:txBody>
          <a:bodyPr>
            <a:normAutofit/>
          </a:bodyPr>
          <a:lstStyle/>
          <a:p>
            <a:r>
              <a:rPr lang="en-IN" sz="1800" b="1" dirty="0"/>
              <a:t>Technology Used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1800" dirty="0"/>
              <a:t>Python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1800" dirty="0"/>
              <a:t>Pandas &amp; NumPy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1800" dirty="0"/>
              <a:t>Scikit-learn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1800" dirty="0"/>
              <a:t>Random Forest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1800" dirty="0"/>
              <a:t>IBM BOB 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A9D434-C7F5-18E9-EC2E-B52289103D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240"/>
          <a:stretch>
            <a:fillRect/>
          </a:stretch>
        </p:blipFill>
        <p:spPr>
          <a:xfrm>
            <a:off x="6567803" y="405581"/>
            <a:ext cx="4532815" cy="6361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324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AD8E1-BCFD-4FB4-1862-372EBD64E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582561"/>
          </a:xfrm>
        </p:spPr>
        <p:txBody>
          <a:bodyPr>
            <a:normAutofit fontScale="90000"/>
          </a:bodyPr>
          <a:lstStyle/>
          <a:p>
            <a:r>
              <a:rPr lang="en-IN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1ED88-8CC2-07AB-DE3B-7CC47A78F7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189703"/>
            <a:ext cx="9601200" cy="5201265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/>
              <a:t>🤖 Energy Prediction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Uses a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Random Forest regression model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Predicts target energy consumption from system characteristics.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Helps compare calculated and ML-estimated energy.</a:t>
            </a:r>
          </a:p>
          <a:p>
            <a:r>
              <a:rPr lang="en-IN" b="1" dirty="0"/>
              <a:t>🔎 Anomaly Detection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Uses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Isolation Forest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Identifies configurations that are statistically unusual.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Helps engineers investigate unexpected combinations.</a:t>
            </a:r>
          </a:p>
          <a:p>
            <a:r>
              <a:rPr lang="en-IN" b="1" dirty="0"/>
              <a:t>⚙️ Energy Optimization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Searches different operating scenarios.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Applies user-defined constraints.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Identifies potential lower-energy configurations.</a:t>
            </a:r>
          </a:p>
          <a:p>
            <a:r>
              <a:rPr lang="en-IN" b="1" dirty="0"/>
              <a:t>💬 IBM BOB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Explains technical results.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Helps interpret predictions and anomalies.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Generates engineering recommendations.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Supports AI-assisted development and documentation.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96980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183B3-59C8-7C7B-92E6-537A856BA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631723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Engineering Calculation +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A2944-FF33-1F52-38B4-225FD244E8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17523"/>
            <a:ext cx="9601200" cy="5191432"/>
          </a:xfrm>
        </p:spPr>
        <p:txBody>
          <a:bodyPr>
            <a:normAutofit fontScale="77500" lnSpcReduction="20000"/>
          </a:bodyPr>
          <a:lstStyle/>
          <a:p>
            <a:r>
              <a:rPr lang="en-IN" b="1" dirty="0"/>
              <a:t>How Engineering and AI Work Together</a:t>
            </a:r>
          </a:p>
          <a:p>
            <a:pPr marL="0" indent="0">
              <a:buNone/>
            </a:pPr>
            <a:r>
              <a:rPr lang="en-IN" dirty="0"/>
              <a:t>     </a:t>
            </a:r>
            <a:r>
              <a:rPr lang="en-IN" dirty="0" err="1"/>
              <a:t>CircuitWise</a:t>
            </a:r>
            <a:r>
              <a:rPr lang="en-IN" dirty="0"/>
              <a:t> AI does </a:t>
            </a:r>
            <a:r>
              <a:rPr lang="en-IN" b="1" dirty="0"/>
              <a:t>not replace engineering calculations with AI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b="1" dirty="0"/>
              <a:t>     Baseline Calculation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b="1" dirty="0"/>
              <a:t>Power : </a:t>
            </a:r>
            <a:r>
              <a:rPr lang="en-IN" dirty="0"/>
              <a:t>P = V × I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b="1" dirty="0"/>
              <a:t>Energy : </a:t>
            </a:r>
            <a:r>
              <a:rPr lang="en-IN" dirty="0"/>
              <a:t>E = P × 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The calculated value provides the </a:t>
            </a:r>
            <a:r>
              <a:rPr lang="en-IN" b="1" dirty="0"/>
              <a:t>engineering baseline</a:t>
            </a:r>
            <a:r>
              <a:rPr lang="en-IN" dirty="0"/>
              <a:t>.</a:t>
            </a:r>
          </a:p>
          <a:p>
            <a:r>
              <a:rPr lang="en-IN" b="1" dirty="0"/>
              <a:t>AI Layer</a:t>
            </a:r>
          </a:p>
          <a:p>
            <a:pPr marL="0" indent="0">
              <a:buNone/>
            </a:pPr>
            <a:r>
              <a:rPr lang="en-IN" dirty="0"/>
              <a:t>The ML model uses system features such as: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Number of components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Voltage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Active/sleep duration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Average current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Peak current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Analysis period </a:t>
            </a:r>
          </a:p>
          <a:p>
            <a:r>
              <a:rPr lang="en-IN" b="1" dirty="0"/>
              <a:t>Why Both?</a:t>
            </a:r>
          </a:p>
          <a:p>
            <a:pPr marL="0" indent="0">
              <a:buNone/>
            </a:pPr>
            <a:r>
              <a:rPr lang="en-IN" b="1" dirty="0"/>
              <a:t>Calculation → Physical baseline</a:t>
            </a:r>
            <a:br>
              <a:rPr lang="en-IN" dirty="0"/>
            </a:br>
            <a:r>
              <a:rPr lang="en-IN" b="1" dirty="0"/>
              <a:t>ML → Pattern-based prediction</a:t>
            </a:r>
            <a:br>
              <a:rPr lang="en-IN" dirty="0"/>
            </a:br>
            <a:r>
              <a:rPr lang="en-IN" b="1" dirty="0"/>
              <a:t>Comparison → Engineering insight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5978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0342C-690F-6DCB-2757-C30E262E4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621890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IBM BOB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316587-140D-1C49-1284-0D90F9D50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07690"/>
            <a:ext cx="9601200" cy="4559710"/>
          </a:xfrm>
        </p:spPr>
        <p:txBody>
          <a:bodyPr>
            <a:normAutofit/>
          </a:bodyPr>
          <a:lstStyle/>
          <a:p>
            <a:r>
              <a:rPr lang="en-IN" dirty="0"/>
              <a:t>IBM BOB is integrated as an </a:t>
            </a:r>
            <a:r>
              <a:rPr lang="en-IN" b="1" dirty="0"/>
              <a:t>AI-assisted explanation and development layer</a:t>
            </a:r>
            <a:r>
              <a:rPr lang="en-IN" dirty="0"/>
              <a:t>.</a:t>
            </a:r>
          </a:p>
          <a:p>
            <a:r>
              <a:rPr lang="en-IN" dirty="0"/>
              <a:t>BOB can help explain: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Why a prediction differs from the calculated value.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What an anomaly means.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Which component or operating condition needs attention.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What optimization scenario was identified.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What limitations should be considered. </a:t>
            </a:r>
          </a:p>
          <a:p>
            <a:pPr marL="530352" lvl="1" indent="0">
              <a:buNone/>
            </a:pPr>
            <a:endParaRPr lang="en-IN" dirty="0"/>
          </a:p>
          <a:p>
            <a:pPr marL="530352" lvl="1" indent="0">
              <a:buNone/>
            </a:pPr>
            <a:endParaRPr lang="en-IN" dirty="0"/>
          </a:p>
          <a:p>
            <a:pPr>
              <a:buFont typeface="Wingdings" panose="05000000000000000000" pitchFamily="2" charset="2"/>
              <a:buChar char="§"/>
            </a:pPr>
            <a:r>
              <a:rPr lang="en-IN" b="1" dirty="0"/>
              <a:t>Important</a:t>
            </a:r>
          </a:p>
          <a:p>
            <a:pPr marL="0" indent="0">
              <a:buNone/>
            </a:pPr>
            <a:r>
              <a:rPr lang="en-IN" b="1" dirty="0"/>
              <a:t>BOB explains the results; it does not replace the underlying calculations or ML models.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9691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1FF3A-9231-2142-23EC-7865A5760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6968" y="174523"/>
            <a:ext cx="9601200" cy="621890"/>
          </a:xfrm>
        </p:spPr>
        <p:txBody>
          <a:bodyPr/>
          <a:lstStyle/>
          <a:p>
            <a:r>
              <a:rPr lang="en-I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Prototype Demonstration</a:t>
            </a:r>
            <a:endParaRPr lang="en-I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26C64-1EB6-CAC3-5714-8CE8D5C379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6968" y="796413"/>
            <a:ext cx="9601200" cy="4559710"/>
          </a:xfrm>
        </p:spPr>
        <p:txBody>
          <a:bodyPr/>
          <a:lstStyle/>
          <a:p>
            <a:r>
              <a:rPr lang="en-IN" b="1" dirty="0"/>
              <a:t>Prototype: ESP32 + DHT22</a:t>
            </a:r>
          </a:p>
          <a:p>
            <a:pPr marL="530352" lvl="1" indent="0">
              <a:buNone/>
            </a:pPr>
            <a:r>
              <a:rPr lang="en-IN" b="1" dirty="0"/>
              <a:t>Example IoT Device:</a:t>
            </a:r>
            <a:r>
              <a:rPr lang="en-IN" dirty="0"/>
              <a:t> Environmental monitoring system</a:t>
            </a:r>
          </a:p>
          <a:p>
            <a:pPr marL="530352" lvl="1" indent="0">
              <a:buNone/>
            </a:pPr>
            <a:r>
              <a:rPr lang="en-IN" b="1" dirty="0"/>
              <a:t>Configuration:</a:t>
            </a:r>
            <a:endParaRPr lang="en-IN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en-IN" dirty="0"/>
              <a:t>ESP32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IN" dirty="0"/>
              <a:t>DHT22 temperature/humidity sensor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IN" dirty="0"/>
              <a:t>Supply voltage: </a:t>
            </a:r>
            <a:r>
              <a:rPr lang="en-IN" b="1" dirty="0"/>
              <a:t>3.3 V</a:t>
            </a:r>
            <a:r>
              <a:rPr lang="en-IN" dirty="0"/>
              <a:t>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IN" dirty="0"/>
              <a:t>Analysis period: </a:t>
            </a:r>
            <a:r>
              <a:rPr lang="en-IN" b="1" dirty="0"/>
              <a:t>60 minutes</a:t>
            </a:r>
            <a:r>
              <a:rPr lang="en-IN" dirty="0"/>
              <a:t> </a:t>
            </a:r>
          </a:p>
          <a:p>
            <a:r>
              <a:rPr lang="en-IN" b="1" dirty="0" err="1"/>
              <a:t>CircuitWise</a:t>
            </a:r>
            <a:r>
              <a:rPr lang="en-IN" b="1" dirty="0"/>
              <a:t> AI performs</a:t>
            </a:r>
          </a:p>
          <a:p>
            <a:endParaRPr lang="en-IN" dirty="0"/>
          </a:p>
        </p:txBody>
      </p:sp>
      <p:pic>
        <p:nvPicPr>
          <p:cNvPr id="4" name="Picture 3" descr="AI generated image">
            <a:extLst>
              <a:ext uri="{FF2B5EF4-FFF2-40B4-BE49-F238E27FC236}">
                <a16:creationId xmlns:a16="http://schemas.microsoft.com/office/drawing/2014/main" id="{C34DF91F-30B1-6ABC-495B-6CA2A911F3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740" b="9787"/>
          <a:stretch>
            <a:fillRect/>
          </a:stretch>
        </p:blipFill>
        <p:spPr>
          <a:xfrm>
            <a:off x="4655984" y="3549444"/>
            <a:ext cx="6179164" cy="2880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7785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1CD6D-3B53-9E2B-34BE-AAEC0D1D2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155" y="115529"/>
            <a:ext cx="9601200" cy="444910"/>
          </a:xfrm>
        </p:spPr>
        <p:txBody>
          <a:bodyPr>
            <a:normAutofit fontScale="90000"/>
          </a:bodyPr>
          <a:lstStyle/>
          <a:p>
            <a:r>
              <a:rPr lang="en-I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AC4CF07-6907-A89C-9F3E-B1B0F841F7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2120620"/>
              </p:ext>
            </p:extLst>
          </p:nvPr>
        </p:nvGraphicFramePr>
        <p:xfrm>
          <a:off x="870155" y="1095304"/>
          <a:ext cx="9601200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00600">
                  <a:extLst>
                    <a:ext uri="{9D8B030D-6E8A-4147-A177-3AD203B41FA5}">
                      <a16:colId xmlns:a16="http://schemas.microsoft.com/office/drawing/2014/main" val="817781662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37460879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Parameter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Result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29707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Components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ESP32 + DHT22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7113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Voltage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3.3 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98557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Analysis period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60 min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7554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Calculated energy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47.81 mWh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44861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ML predicted energy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22.42 mWh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35059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Difference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53.1%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5144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0EB75FC-8116-850F-A3F6-0D55FE3561EA}"/>
              </a:ext>
            </a:extLst>
          </p:cNvPr>
          <p:cNvSpPr txBox="1"/>
          <p:nvPr/>
        </p:nvSpPr>
        <p:spPr>
          <a:xfrm>
            <a:off x="870155" y="3893210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What does this mean?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calculated value is the </a:t>
            </a:r>
            <a:r>
              <a:rPr lang="en-IN" b="1" dirty="0"/>
              <a:t>engineering baseline</a:t>
            </a:r>
            <a:r>
              <a:rPr lang="en-IN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ML prediction differs significantly for this test case.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This highlights the importance of </a:t>
            </a:r>
            <a:r>
              <a:rPr lang="en-IN" b="1" dirty="0"/>
              <a:t>model validation</a:t>
            </a:r>
            <a:r>
              <a:rPr lang="en-IN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current model is trained on </a:t>
            </a:r>
            <a:r>
              <a:rPr lang="en-IN" b="1" dirty="0"/>
              <a:t>synthetic/component-derived data</a:t>
            </a:r>
            <a:r>
              <a:rPr lang="en-IN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Hardware measurements are required before using the model for real-world design decisions.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CE0026-E6F5-565E-A4A2-F92650428555}"/>
              </a:ext>
            </a:extLst>
          </p:cNvPr>
          <p:cNvSpPr txBox="1"/>
          <p:nvPr/>
        </p:nvSpPr>
        <p:spPr>
          <a:xfrm>
            <a:off x="870155" y="656466"/>
            <a:ext cx="1971822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Example Results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56614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E08228-B005-46A7-1499-D7C3F83480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6458"/>
          <a:stretch>
            <a:fillRect/>
          </a:stretch>
        </p:blipFill>
        <p:spPr>
          <a:xfrm>
            <a:off x="883151" y="86321"/>
            <a:ext cx="4564776" cy="65004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6FF876E-9A40-0FB0-5794-3A9BBF8C0BA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3414"/>
          <a:stretch>
            <a:fillRect/>
          </a:stretch>
        </p:blipFill>
        <p:spPr>
          <a:xfrm>
            <a:off x="5910043" y="471165"/>
            <a:ext cx="4599074" cy="5730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2348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730E86-A520-B787-DC5C-E02B420639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129"/>
          <a:stretch>
            <a:fillRect/>
          </a:stretch>
        </p:blipFill>
        <p:spPr>
          <a:xfrm>
            <a:off x="782935" y="125443"/>
            <a:ext cx="4564776" cy="66071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BBD8BA3-A7C3-1AD5-D8EC-9373FFB1C6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5194" y="125443"/>
            <a:ext cx="4847137" cy="49650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78C690-CBBE-81F1-2260-AD8E7D2BC3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5194" y="5015984"/>
            <a:ext cx="4847137" cy="1737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4216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76E8D-73AB-A720-0B08-0DC376C8C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6" y="331839"/>
            <a:ext cx="9601200" cy="658761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Optimization &amp; Responsible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491AD-08A9-71EC-01A4-0755AE9F26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316" y="1154060"/>
            <a:ext cx="9601200" cy="5010765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Energy Optimization</a:t>
            </a:r>
          </a:p>
          <a:p>
            <a:pPr marL="0" indent="0">
              <a:buNone/>
            </a:pPr>
            <a:r>
              <a:rPr lang="en-IN" dirty="0"/>
              <a:t>      For a tested ESP32 + DHT22 scenario: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ESP32 active time: </a:t>
            </a:r>
            <a:r>
              <a:rPr lang="en-IN" b="1" dirty="0"/>
              <a:t>10 min → 5 min</a:t>
            </a:r>
            <a:r>
              <a:rPr lang="en-IN" dirty="0"/>
              <a:t>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Minimum active-time constraint: </a:t>
            </a:r>
            <a:r>
              <a:rPr lang="en-IN" b="1" dirty="0"/>
              <a:t>5 min</a:t>
            </a:r>
            <a:r>
              <a:rPr lang="en-IN" dirty="0"/>
              <a:t>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Calculated potential energy reduction: </a:t>
            </a:r>
            <a:r>
              <a:rPr lang="en-IN" b="1" dirty="0"/>
              <a:t>30.67%</a:t>
            </a:r>
            <a:r>
              <a:rPr lang="en-IN" dirty="0"/>
              <a:t>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This is a </a:t>
            </a:r>
            <a:r>
              <a:rPr lang="en-IN" b="1" dirty="0"/>
              <a:t>simulated/calculated scenario</a:t>
            </a:r>
            <a:r>
              <a:rPr lang="en-IN" dirty="0"/>
              <a:t>, not a hardware measurement. </a:t>
            </a:r>
          </a:p>
          <a:p>
            <a:r>
              <a:rPr lang="en-IN" b="1" dirty="0"/>
              <a:t>Responsible AI</a:t>
            </a:r>
          </a:p>
          <a:p>
            <a:pPr marL="0" indent="0">
              <a:buNone/>
            </a:pPr>
            <a:r>
              <a:rPr lang="en-IN" dirty="0"/>
              <a:t>      </a:t>
            </a:r>
            <a:r>
              <a:rPr lang="en-IN" dirty="0" err="1"/>
              <a:t>CircuitWise</a:t>
            </a:r>
            <a:r>
              <a:rPr lang="en-IN" dirty="0"/>
              <a:t> AI follows these principles: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b="1" dirty="0"/>
              <a:t>Transparency:</a:t>
            </a:r>
            <a:r>
              <a:rPr lang="en-IN" dirty="0"/>
              <a:t> Calculation and AI prediction are shown separately.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b="1" dirty="0"/>
              <a:t>Honesty:</a:t>
            </a:r>
            <a:r>
              <a:rPr lang="en-IN" dirty="0"/>
              <a:t> Synthetic data is clearly identified.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b="1" dirty="0"/>
              <a:t>Human Oversight:</a:t>
            </a:r>
            <a:r>
              <a:rPr lang="en-IN" dirty="0"/>
              <a:t> Engineers make the final design decision.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b="1" dirty="0"/>
              <a:t>No Fabricated Measurements:</a:t>
            </a:r>
            <a:r>
              <a:rPr lang="en-IN" dirty="0"/>
              <a:t> Hardware results are not claimed before testing.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b="1" dirty="0"/>
              <a:t>Limitations:</a:t>
            </a:r>
            <a:r>
              <a:rPr lang="en-IN" dirty="0"/>
              <a:t> Model uncertainty and data limitations are reported.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08073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A16CD-99A0-3F47-7193-9ED556B5A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129" y="290052"/>
            <a:ext cx="9601200" cy="700548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Impact &amp; 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5CE67B-A45E-4AFA-480E-4AD03F19D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7471" y="990600"/>
            <a:ext cx="9601200" cy="4876800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/>
              <a:t>For Engineers</a:t>
            </a:r>
            <a:endParaRPr lang="en-IN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Faster power analysis.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Easier comparison of IoT configurations.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Early identification of energy-intensive conditions. </a:t>
            </a:r>
          </a:p>
          <a:p>
            <a:r>
              <a:rPr lang="en-IN" b="1" dirty="0"/>
              <a:t>For Developers &amp; MSMEs</a:t>
            </a:r>
            <a:endParaRPr lang="en-IN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Lower-cost design exploration.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Reduced trial-and-error during development. </a:t>
            </a:r>
          </a:p>
          <a:p>
            <a:r>
              <a:rPr lang="en-IN" b="1" dirty="0"/>
              <a:t>For Sustainability</a:t>
            </a:r>
            <a:endParaRPr lang="en-IN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Supports energy-conscious IoT design.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Contributes to </a:t>
            </a:r>
            <a:r>
              <a:rPr lang="en-IN" b="1" dirty="0"/>
              <a:t>SDG 12 – Responsible Consumption and Production</a:t>
            </a:r>
            <a:r>
              <a:rPr lang="en-IN" dirty="0"/>
              <a:t>.</a:t>
            </a:r>
          </a:p>
          <a:p>
            <a:pPr marL="530352" lvl="1" indent="0">
              <a:buNone/>
            </a:pPr>
            <a:endParaRPr lang="en-IN" dirty="0"/>
          </a:p>
          <a:p>
            <a:r>
              <a:rPr lang="en-IN" sz="2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Scope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Real Power Dataset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ML Model Retraining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Improved Energy Prediction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Real-World Energy-Efficient IoT Design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88565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1BE5A-573B-6733-DBA1-0C7DDFD9C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917" y="685800"/>
            <a:ext cx="11159612" cy="1143000"/>
          </a:xfrm>
        </p:spPr>
        <p:txBody>
          <a:bodyPr>
            <a:normAutofit fontScale="90000"/>
          </a:bodyPr>
          <a:lstStyle/>
          <a:p>
            <a:r>
              <a:rPr lang="en-IN" sz="4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CircuitWise</a:t>
            </a:r>
            <a:r>
              <a:rPr lang="en-IN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AI</a:t>
            </a:r>
            <a:b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 Smarter. Predict Earlier. Optimize Energy. Build Sustainably.</a:t>
            </a:r>
          </a:p>
        </p:txBody>
      </p:sp>
      <p:pic>
        <p:nvPicPr>
          <p:cNvPr id="3" name="Picture 2" descr="Thank You Message Displayed on Electronic Circuit Board Stock Illustration  - Illustration of express, tech: 330588400">
            <a:extLst>
              <a:ext uri="{FF2B5EF4-FFF2-40B4-BE49-F238E27FC236}">
                <a16:creationId xmlns:a16="http://schemas.microsoft.com/office/drawing/2014/main" id="{DC30C66E-216D-0308-2A90-F4DB729873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010849"/>
            <a:ext cx="7620000" cy="427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555946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{D8F77DE8-077E-4E8F-9487-A1E64E556C04}TFc3084226-2d0c-440f-9f46-6b48c7a7f670e6ba4a85-fc4a2881d6b3</Template>
  <TotalTime>98</TotalTime>
  <Words>837</Words>
  <Application>Microsoft Office PowerPoint</Application>
  <PresentationFormat>Widescreen</PresentationFormat>
  <Paragraphs>166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Franklin Gothic Book</vt:lpstr>
      <vt:lpstr>Wingdings</vt:lpstr>
      <vt:lpstr>Crop</vt:lpstr>
      <vt:lpstr>PowerPoint Presentation</vt:lpstr>
      <vt:lpstr>PROBLEM STATEMENT</vt:lpstr>
      <vt:lpstr>PROJECT &amp; SDG ALIGNMENT</vt:lpstr>
      <vt:lpstr>Proposed Solution</vt:lpstr>
      <vt:lpstr>How CircuitWise AI Works</vt:lpstr>
      <vt:lpstr>System Architecture</vt:lpstr>
      <vt:lpstr>AI Components</vt:lpstr>
      <vt:lpstr>Engineering Calculation + AI</vt:lpstr>
      <vt:lpstr>IBM BOB Integration</vt:lpstr>
      <vt:lpstr>Prototype Demonstration</vt:lpstr>
      <vt:lpstr>Results</vt:lpstr>
      <vt:lpstr>PowerPoint Presentation</vt:lpstr>
      <vt:lpstr>PowerPoint Presentation</vt:lpstr>
      <vt:lpstr>Optimization &amp; Responsible AI</vt:lpstr>
      <vt:lpstr>Impact &amp; Future Scope</vt:lpstr>
      <vt:lpstr>CircuitWise AI Design Smarter. Predict Earlier. Optimize Energy. Build Sustainably.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Balakumar S</dc:creator>
  <cp:lastModifiedBy>Balakumar S</cp:lastModifiedBy>
  <cp:revision>3</cp:revision>
  <dcterms:created xsi:type="dcterms:W3CDTF">2026-09-20T12:05:24Z</dcterms:created>
  <dcterms:modified xsi:type="dcterms:W3CDTF">2026-09-20T13:44:19Z</dcterms:modified>
</cp:coreProperties>
</file>